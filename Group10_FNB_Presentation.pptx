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CBE2"/>
    <a:srgbClr val="3072BA"/>
    <a:srgbClr val="426A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autoAdjust="0"/>
    <p:restoredTop sz="94660"/>
  </p:normalViewPr>
  <p:slideViewPr>
    <p:cSldViewPr snapToGrid="0">
      <p:cViewPr varScale="1">
        <p:scale>
          <a:sx n="89" d="100"/>
          <a:sy n="89" d="100"/>
        </p:scale>
        <p:origin x="4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5" Type="http://schemas.openxmlformats.org/officeDocument/2006/relationships/slide" Target="slides/slide4.xml" /><Relationship Id="rId1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theme" Target="theme/theme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 /></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 /><Relationship Id="rId2" Type="http://schemas.microsoft.com/office/2011/relationships/chartColorStyle" Target="colors1.xml" /><Relationship Id="rId1" Type="http://schemas.microsoft.com/office/2011/relationships/chartStyle" Target="style1.xml" /></Relationships>
</file>

<file path=ppt/charts/_rels/chartEx1.xml.rels><?xml version="1.0" encoding="UTF-8" standalone="yes"?>
<Relationships xmlns="http://schemas.openxmlformats.org/package/2006/relationships"><Relationship Id="rId2" Type="http://schemas.microsoft.com/office/2011/relationships/chartColorStyle" Target="colors2.xml" /><Relationship Id="rId1" Type="http://schemas.microsoft.com/office/2011/relationships/chartStyle" Target="style2.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Histogram</a:t>
            </a:r>
          </a:p>
        </c:rich>
      </c:tx>
      <c:overlay val="0"/>
    </c:title>
    <c:autoTitleDeleted val="0"/>
    <c:plotArea>
      <c:layout/>
      <c:barChart>
        <c:barDir val="col"/>
        <c:grouping val="clustered"/>
        <c:varyColors val="0"/>
        <c:ser>
          <c:idx val="0"/>
          <c:order val="0"/>
          <c:spPr>
            <a:solidFill>
              <a:schemeClr val="accent6">
                <a:lumMod val="40000"/>
                <a:lumOff val="60000"/>
              </a:schemeClr>
            </a:solidFill>
            <a:ln>
              <a:solidFill>
                <a:schemeClr val="tx1">
                  <a:lumMod val="95000"/>
                  <a:lumOff val="5000"/>
                </a:schemeClr>
              </a:solidFill>
            </a:ln>
          </c:spPr>
          <c:invertIfNegative val="0"/>
          <c:cat>
            <c:numRef>
              <c:f>dataset!$T$11:$T$20</c:f>
              <c:numCache>
                <c:formatCode>0%</c:formatCode>
                <c:ptCount val="10"/>
                <c:pt idx="0">
                  <c:v>0.09</c:v>
                </c:pt>
                <c:pt idx="1">
                  <c:v>0.19</c:v>
                </c:pt>
                <c:pt idx="2">
                  <c:v>0.28999999999999998</c:v>
                </c:pt>
                <c:pt idx="3">
                  <c:v>0.39</c:v>
                </c:pt>
                <c:pt idx="4">
                  <c:v>0.49</c:v>
                </c:pt>
                <c:pt idx="5">
                  <c:v>0.59</c:v>
                </c:pt>
                <c:pt idx="6">
                  <c:v>0.69</c:v>
                </c:pt>
                <c:pt idx="7">
                  <c:v>0.79</c:v>
                </c:pt>
                <c:pt idx="8">
                  <c:v>0.89</c:v>
                </c:pt>
                <c:pt idx="9">
                  <c:v>0.99</c:v>
                </c:pt>
              </c:numCache>
            </c:numRef>
          </c:cat>
          <c:val>
            <c:numRef>
              <c:f>dataset!$U$11:$U$20</c:f>
              <c:numCache>
                <c:formatCode>General</c:formatCode>
                <c:ptCount val="10"/>
                <c:pt idx="0">
                  <c:v>53</c:v>
                </c:pt>
                <c:pt idx="1">
                  <c:v>220</c:v>
                </c:pt>
                <c:pt idx="2">
                  <c:v>622</c:v>
                </c:pt>
                <c:pt idx="3">
                  <c:v>951</c:v>
                </c:pt>
                <c:pt idx="4">
                  <c:v>1035</c:v>
                </c:pt>
                <c:pt idx="5">
                  <c:v>1660</c:v>
                </c:pt>
                <c:pt idx="6">
                  <c:v>1394</c:v>
                </c:pt>
                <c:pt idx="7">
                  <c:v>934</c:v>
                </c:pt>
                <c:pt idx="8">
                  <c:v>2111</c:v>
                </c:pt>
                <c:pt idx="9">
                  <c:v>1005</c:v>
                </c:pt>
              </c:numCache>
            </c:numRef>
          </c:val>
          <c:extLst>
            <c:ext xmlns:c16="http://schemas.microsoft.com/office/drawing/2014/chart" uri="{C3380CC4-5D6E-409C-BE32-E72D297353CC}">
              <c16:uniqueId val="{00000000-CCC7-4987-8902-CDB0A1A29B64}"/>
            </c:ext>
          </c:extLst>
        </c:ser>
        <c:dLbls>
          <c:showLegendKey val="0"/>
          <c:showVal val="0"/>
          <c:showCatName val="0"/>
          <c:showSerName val="0"/>
          <c:showPercent val="0"/>
          <c:showBubbleSize val="0"/>
        </c:dLbls>
        <c:gapWidth val="0"/>
        <c:axId val="198838480"/>
        <c:axId val="43055984"/>
      </c:barChart>
      <c:catAx>
        <c:axId val="198838480"/>
        <c:scaling>
          <c:orientation val="minMax"/>
        </c:scaling>
        <c:delete val="0"/>
        <c:axPos val="b"/>
        <c:title>
          <c:tx>
            <c:rich>
              <a:bodyPr/>
              <a:lstStyle/>
              <a:p>
                <a:pPr>
                  <a:defRPr/>
                </a:pPr>
                <a:r>
                  <a:rPr lang="en-US"/>
                  <a:t>Bin</a:t>
                </a:r>
              </a:p>
            </c:rich>
          </c:tx>
          <c:overlay val="0"/>
        </c:title>
        <c:numFmt formatCode="0%" sourceLinked="1"/>
        <c:majorTickMark val="out"/>
        <c:minorTickMark val="none"/>
        <c:tickLblPos val="nextTo"/>
        <c:crossAx val="43055984"/>
        <c:crosses val="autoZero"/>
        <c:auto val="1"/>
        <c:lblAlgn val="ctr"/>
        <c:lblOffset val="100"/>
        <c:noMultiLvlLbl val="0"/>
      </c:catAx>
      <c:valAx>
        <c:axId val="43055984"/>
        <c:scaling>
          <c:orientation val="minMax"/>
        </c:scaling>
        <c:delete val="0"/>
        <c:axPos val="l"/>
        <c:title>
          <c:tx>
            <c:rich>
              <a:bodyPr/>
              <a:lstStyle/>
              <a:p>
                <a:pPr>
                  <a:defRPr/>
                </a:pPr>
                <a:r>
                  <a:rPr lang="en-US"/>
                  <a:t>Frequency</a:t>
                </a:r>
              </a:p>
            </c:rich>
          </c:tx>
          <c:overlay val="0"/>
        </c:title>
        <c:numFmt formatCode="General" sourceLinked="1"/>
        <c:majorTickMark val="out"/>
        <c:minorTickMark val="none"/>
        <c:tickLblPos val="nextTo"/>
        <c:crossAx val="198838480"/>
        <c:crosses val="autoZero"/>
        <c:crossBetween val="between"/>
      </c:valAx>
      <c:spPr>
        <a:solidFill>
          <a:schemeClr val="bg1"/>
        </a:solidFill>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40000"/>
        <a:lumOff val="60000"/>
      </a:schemeClr>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Histogram</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Frequency</c:v>
          </c:tx>
          <c:spPr>
            <a:solidFill>
              <a:schemeClr val="accent1"/>
            </a:solidFill>
            <a:ln>
              <a:noFill/>
            </a:ln>
            <a:effectLst/>
          </c:spPr>
          <c:invertIfNegative val="0"/>
          <c:cat>
            <c:numRef>
              <c:f>'feature_5 eda'!$I$14:$I$27</c:f>
              <c:numCache>
                <c:formatCode>General</c:formatCode>
                <c:ptCount val="14"/>
                <c:pt idx="0">
                  <c:v>999</c:v>
                </c:pt>
                <c:pt idx="1">
                  <c:v>1999</c:v>
                </c:pt>
                <c:pt idx="2">
                  <c:v>2999</c:v>
                </c:pt>
                <c:pt idx="3">
                  <c:v>3999</c:v>
                </c:pt>
                <c:pt idx="4">
                  <c:v>4999</c:v>
                </c:pt>
                <c:pt idx="5">
                  <c:v>5999</c:v>
                </c:pt>
                <c:pt idx="6">
                  <c:v>6999</c:v>
                </c:pt>
                <c:pt idx="7">
                  <c:v>7999</c:v>
                </c:pt>
                <c:pt idx="8">
                  <c:v>8999</c:v>
                </c:pt>
                <c:pt idx="9">
                  <c:v>9999</c:v>
                </c:pt>
                <c:pt idx="10">
                  <c:v>10999</c:v>
                </c:pt>
                <c:pt idx="11">
                  <c:v>11999</c:v>
                </c:pt>
                <c:pt idx="12">
                  <c:v>12999</c:v>
                </c:pt>
              </c:numCache>
            </c:numRef>
          </c:cat>
          <c:val>
            <c:numRef>
              <c:f>'feature_5 eda'!$J$14:$J$27</c:f>
              <c:numCache>
                <c:formatCode>General</c:formatCode>
                <c:ptCount val="14"/>
                <c:pt idx="0">
                  <c:v>2774</c:v>
                </c:pt>
                <c:pt idx="1">
                  <c:v>2052</c:v>
                </c:pt>
                <c:pt idx="2">
                  <c:v>1497</c:v>
                </c:pt>
                <c:pt idx="3">
                  <c:v>1084</c:v>
                </c:pt>
                <c:pt idx="4">
                  <c:v>838</c:v>
                </c:pt>
                <c:pt idx="5">
                  <c:v>623</c:v>
                </c:pt>
                <c:pt idx="6">
                  <c:v>419</c:v>
                </c:pt>
                <c:pt idx="7">
                  <c:v>209</c:v>
                </c:pt>
                <c:pt idx="8">
                  <c:v>113</c:v>
                </c:pt>
                <c:pt idx="9">
                  <c:v>166</c:v>
                </c:pt>
                <c:pt idx="10">
                  <c:v>121</c:v>
                </c:pt>
                <c:pt idx="11">
                  <c:v>51</c:v>
                </c:pt>
                <c:pt idx="12">
                  <c:v>38</c:v>
                </c:pt>
              </c:numCache>
            </c:numRef>
          </c:val>
          <c:extLst>
            <c:ext xmlns:c16="http://schemas.microsoft.com/office/drawing/2014/chart" uri="{C3380CC4-5D6E-409C-BE32-E72D297353CC}">
              <c16:uniqueId val="{00000000-B3A4-4F64-9079-643255957786}"/>
            </c:ext>
          </c:extLst>
        </c:ser>
        <c:dLbls>
          <c:showLegendKey val="0"/>
          <c:showVal val="0"/>
          <c:showCatName val="0"/>
          <c:showSerName val="0"/>
          <c:showPercent val="0"/>
          <c:showBubbleSize val="0"/>
        </c:dLbls>
        <c:gapWidth val="219"/>
        <c:overlap val="-27"/>
        <c:axId val="470121344"/>
        <c:axId val="478051088"/>
      </c:barChart>
      <c:catAx>
        <c:axId val="470121344"/>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Bin</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78051088"/>
        <c:crosses val="autoZero"/>
        <c:auto val="1"/>
        <c:lblAlgn val="ctr"/>
        <c:lblOffset val="100"/>
        <c:noMultiLvlLbl val="0"/>
      </c:catAx>
      <c:valAx>
        <c:axId val="4780510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Frequency</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701213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data id="0">
      <cx:numDim type="val">
        <cx:f>'feature_5 eda'!$K$2:$K$6</cx:f>
        <cx:lvl ptCount="5" formatCode="General">
          <cx:pt idx="0">0</cx:pt>
          <cx:pt idx="1">861</cx:pt>
          <cx:pt idx="2">2076</cx:pt>
          <cx:pt idx="3">4053</cx:pt>
          <cx:pt idx="4">12772</cx:pt>
        </cx:lvl>
      </cx:numDim>
    </cx:data>
  </cx:chartData>
  <cx:chart>
    <cx:title pos="t" align="ctr" overlay="0">
      <cx:tx>
        <cx:txData>
          <cx:v>Box and Whisker Diagram</cx:v>
        </cx:txData>
      </cx:tx>
      <cx:txPr>
        <a:bodyPr spcFirstLastPara="1" vertOverflow="ellipsis" horzOverflow="overflow" wrap="square" lIns="0" tIns="0" rIns="0" bIns="0" anchor="ctr" anchorCtr="1"/>
        <a:lstStyle/>
        <a:p>
          <a:pPr algn="ctr" rtl="0">
            <a:defRPr/>
          </a:pPr>
          <a:r>
            <a:rPr lang="en-US" sz="1600" b="1" i="0" u="sng" strike="noStrike" baseline="0" dirty="0">
              <a:solidFill>
                <a:schemeClr val="tx1">
                  <a:lumMod val="95000"/>
                </a:schemeClr>
              </a:solidFill>
              <a:latin typeface="Calibri" panose="020F0502020204030204"/>
            </a:rPr>
            <a:t>Box and Whisker Diagram</a:t>
          </a:r>
        </a:p>
      </cx:txPr>
    </cx:title>
    <cx:plotArea>
      <cx:plotAreaRegion>
        <cx:series layoutId="boxWhisker" uniqueId="{D6D90241-5090-4799-A600-4BB7743574F0}">
          <cx:spPr>
            <a:ln w="44450">
              <a:solidFill>
                <a:schemeClr val="tx1">
                  <a:lumMod val="95000"/>
                  <a:lumOff val="5000"/>
                </a:schemeClr>
              </a:solidFill>
            </a:ln>
          </cx:spPr>
          <cx:dataId val="0"/>
          <cx:layoutPr>
            <cx:statistics quartileMethod="exclusive"/>
          </cx:layoutPr>
        </cx:series>
      </cx:plotAreaRegion>
      <cx:axis id="0">
        <cx:catScaling gapWidth="1"/>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Z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FE41EE3F-A548-4860-B92D-2FEBF89BCC65}" type="slidenum">
              <a:rPr lang="en-ZA" smtClean="0"/>
              <a:t>‹#›</a:t>
            </a:fld>
            <a:endParaRPr lang="en-ZA"/>
          </a:p>
        </p:txBody>
      </p:sp>
    </p:spTree>
    <p:extLst>
      <p:ext uri="{BB962C8B-B14F-4D97-AF65-F5344CB8AC3E}">
        <p14:creationId xmlns:p14="http://schemas.microsoft.com/office/powerpoint/2010/main" val="779423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1882364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408911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675E0C-63E5-4E37-893B-A4BC51A7730A}" type="datetimeFigureOut">
              <a:rPr lang="en-ZA" smtClean="0"/>
              <a:t>2024/02/05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484140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675E0C-63E5-4E37-893B-A4BC51A7730A}" type="datetimeFigureOut">
              <a:rPr lang="en-ZA" smtClean="0"/>
              <a:t>2024/02/05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497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675E0C-63E5-4E37-893B-A4BC51A7730A}" type="datetimeFigureOut">
              <a:rPr lang="en-ZA" smtClean="0"/>
              <a:t>2024/02/05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123451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675E0C-63E5-4E37-893B-A4BC51A7730A}" type="datetimeFigureOut">
              <a:rPr lang="en-ZA" smtClean="0"/>
              <a:t>2024/02/05</a:t>
            </a:fld>
            <a:endParaRPr lang="en-ZA"/>
          </a:p>
        </p:txBody>
      </p:sp>
      <p:sp>
        <p:nvSpPr>
          <p:cNvPr id="3" name="Footer Placeholder 2"/>
          <p:cNvSpPr>
            <a:spLocks noGrp="1"/>
          </p:cNvSpPr>
          <p:nvPr>
            <p:ph type="ftr" sz="quarter" idx="11"/>
          </p:nvPr>
        </p:nvSpPr>
        <p:spPr/>
        <p:txBody>
          <a:bodyPr/>
          <a:lstStyle/>
          <a:p>
            <a:endParaRPr lang="en-ZA"/>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1458367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75E0C-63E5-4E37-893B-A4BC51A7730A}" type="datetimeFigureOut">
              <a:rPr lang="en-ZA" smtClean="0"/>
              <a:t>2024/02/05</a:t>
            </a:fld>
            <a:endParaRPr lang="en-ZA"/>
          </a:p>
        </p:txBody>
      </p:sp>
      <p:sp>
        <p:nvSpPr>
          <p:cNvPr id="6" name="Footer Placeholder 5"/>
          <p:cNvSpPr>
            <a:spLocks noGrp="1"/>
          </p:cNvSpPr>
          <p:nvPr>
            <p:ph type="ftr" sz="quarter" idx="11"/>
          </p:nvPr>
        </p:nvSpPr>
        <p:spPr/>
        <p:txBody>
          <a:bodyPr/>
          <a:lstStyle/>
          <a:p>
            <a:endParaRPr lang="en-ZA"/>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285537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75E0C-63E5-4E37-893B-A4BC51A7730A}" type="datetimeFigureOut">
              <a:rPr lang="en-ZA" smtClean="0"/>
              <a:t>2024/02/05</a:t>
            </a:fld>
            <a:endParaRPr lang="en-ZA"/>
          </a:p>
        </p:txBody>
      </p:sp>
      <p:sp>
        <p:nvSpPr>
          <p:cNvPr id="6" name="Footer Placeholder 5"/>
          <p:cNvSpPr>
            <a:spLocks noGrp="1"/>
          </p:cNvSpPr>
          <p:nvPr>
            <p:ph type="ftr" sz="quarter" idx="11"/>
          </p:nvPr>
        </p:nvSpPr>
        <p:spPr/>
        <p:txBody>
          <a:bodyPr/>
          <a:lstStyle/>
          <a:p>
            <a:endParaRPr lang="en-ZA"/>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181595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75E0C-63E5-4E37-893B-A4BC51A7730A}" type="datetimeFigureOut">
              <a:rPr lang="en-ZA" smtClean="0"/>
              <a:t>2024/02/05</a:t>
            </a:fld>
            <a:endParaRPr lang="en-ZA"/>
          </a:p>
        </p:txBody>
      </p:sp>
      <p:sp>
        <p:nvSpPr>
          <p:cNvPr id="6" name="Footer Placeholder 5"/>
          <p:cNvSpPr>
            <a:spLocks noGrp="1"/>
          </p:cNvSpPr>
          <p:nvPr>
            <p:ph type="ftr" sz="quarter" idx="11"/>
          </p:nvPr>
        </p:nvSpPr>
        <p:spPr/>
        <p:txBody>
          <a:bodyPr/>
          <a:lstStyle/>
          <a:p>
            <a:endParaRPr lang="en-Z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73906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2375985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401361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1221516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D675E0C-63E5-4E37-893B-A4BC51A7730A}" type="datetimeFigureOut">
              <a:rPr lang="en-ZA" smtClean="0"/>
              <a:t>2024/02/05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044229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D675E0C-63E5-4E37-893B-A4BC51A7730A}" type="datetimeFigureOut">
              <a:rPr lang="en-ZA" smtClean="0"/>
              <a:t>2024/02/05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2577652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3776294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675E0C-63E5-4E37-893B-A4BC51A7730A}" type="datetimeFigureOut">
              <a:rPr lang="en-ZA" smtClean="0"/>
              <a:t>2024/02/05</a:t>
            </a:fld>
            <a:endParaRPr lang="en-ZA"/>
          </a:p>
        </p:txBody>
      </p:sp>
      <p:sp>
        <p:nvSpPr>
          <p:cNvPr id="5" name="Footer Placeholder 4"/>
          <p:cNvSpPr>
            <a:spLocks noGrp="1"/>
          </p:cNvSpPr>
          <p:nvPr>
            <p:ph type="ftr" sz="quarter" idx="11"/>
          </p:nvPr>
        </p:nvSpPr>
        <p:spPr/>
        <p:txBody>
          <a:bodyPr/>
          <a:lstStyle/>
          <a:p>
            <a:endParaRPr lang="en-Z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41EE3F-A548-4860-B92D-2FEBF89BCC65}" type="slidenum">
              <a:rPr lang="en-ZA" smtClean="0"/>
              <a:t>‹#›</a:t>
            </a:fld>
            <a:endParaRPr lang="en-ZA"/>
          </a:p>
        </p:txBody>
      </p:sp>
    </p:spTree>
    <p:extLst>
      <p:ext uri="{BB962C8B-B14F-4D97-AF65-F5344CB8AC3E}">
        <p14:creationId xmlns:p14="http://schemas.microsoft.com/office/powerpoint/2010/main" val="19446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D675E0C-63E5-4E37-893B-A4BC51A7730A}" type="datetimeFigureOut">
              <a:rPr lang="en-ZA" smtClean="0"/>
              <a:t>2024/02/05</a:t>
            </a:fld>
            <a:endParaRPr lang="en-ZA"/>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ZA"/>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FE41EE3F-A548-4860-B92D-2FEBF89BCC65}" type="slidenum">
              <a:rPr lang="en-ZA" smtClean="0"/>
              <a:t>‹#›</a:t>
            </a:fld>
            <a:endParaRPr lang="en-ZA"/>
          </a:p>
        </p:txBody>
      </p:sp>
    </p:spTree>
    <p:extLst>
      <p:ext uri="{BB962C8B-B14F-4D97-AF65-F5344CB8AC3E}">
        <p14:creationId xmlns:p14="http://schemas.microsoft.com/office/powerpoint/2010/main" val="1141284134"/>
      </p:ext>
    </p:extLst>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4022" r:id="rId12"/>
    <p:sldLayoutId id="2147484023" r:id="rId13"/>
    <p:sldLayoutId id="2147484024" r:id="rId14"/>
    <p:sldLayoutId id="2147484025" r:id="rId15"/>
    <p:sldLayoutId id="2147484026" r:id="rId16"/>
    <p:sldLayoutId id="214748402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chart" Target="../charts/chart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chart" Target="../charts/chart2.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microsoft.com/office/2014/relationships/chartEx" Target="../charts/chartEx1.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omputer with graphs and charts&#10;&#10;Description automatically generated">
            <a:extLst>
              <a:ext uri="{FF2B5EF4-FFF2-40B4-BE49-F238E27FC236}">
                <a16:creationId xmlns:a16="http://schemas.microsoft.com/office/drawing/2014/main" id="{AF128358-86F1-54B5-DE47-406883980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619781"/>
            <a:ext cx="6543280" cy="5618438"/>
          </a:xfrm>
          <a:prstGeom prst="rect">
            <a:avLst/>
          </a:prstGeom>
        </p:spPr>
      </p:pic>
      <p:sp>
        <p:nvSpPr>
          <p:cNvPr id="7" name="TextBox 6">
            <a:extLst>
              <a:ext uri="{FF2B5EF4-FFF2-40B4-BE49-F238E27FC236}">
                <a16:creationId xmlns:a16="http://schemas.microsoft.com/office/drawing/2014/main" id="{D67DAFC5-46D9-6CDB-7F33-0E0E9E4C44BA}"/>
              </a:ext>
            </a:extLst>
          </p:cNvPr>
          <p:cNvSpPr txBox="1"/>
          <p:nvPr/>
        </p:nvSpPr>
        <p:spPr>
          <a:xfrm>
            <a:off x="7254499" y="1046488"/>
            <a:ext cx="4480303" cy="1004890"/>
          </a:xfrm>
          <a:prstGeom prst="rect">
            <a:avLst/>
          </a:prstGeom>
          <a:noFill/>
        </p:spPr>
        <p:txBody>
          <a:bodyPr wrap="square" rtlCol="0">
            <a:spAutoFit/>
          </a:bodyPr>
          <a:lstStyle/>
          <a:p>
            <a:pPr defTabSz="484097">
              <a:spcAft>
                <a:spcPts val="588"/>
              </a:spcAft>
            </a:pPr>
            <a:r>
              <a:rPr lang="en-ZA" sz="2965">
                <a:latin typeface="Century" panose="02040604050505020304" pitchFamily="18" charset="0"/>
              </a:rPr>
              <a:t>FNB/First rand case study</a:t>
            </a:r>
            <a:endParaRPr lang="en-ZA" sz="2800">
              <a:latin typeface="Century" panose="02040604050505020304" pitchFamily="18" charset="0"/>
            </a:endParaRPr>
          </a:p>
        </p:txBody>
      </p:sp>
      <p:sp>
        <p:nvSpPr>
          <p:cNvPr id="8" name="TextBox 7">
            <a:extLst>
              <a:ext uri="{FF2B5EF4-FFF2-40B4-BE49-F238E27FC236}">
                <a16:creationId xmlns:a16="http://schemas.microsoft.com/office/drawing/2014/main" id="{A139B600-E327-6E67-06A4-D296BEFC6570}"/>
              </a:ext>
            </a:extLst>
          </p:cNvPr>
          <p:cNvSpPr txBox="1"/>
          <p:nvPr/>
        </p:nvSpPr>
        <p:spPr>
          <a:xfrm>
            <a:off x="7254499" y="2447689"/>
            <a:ext cx="2596623" cy="613694"/>
          </a:xfrm>
          <a:prstGeom prst="rect">
            <a:avLst/>
          </a:prstGeom>
          <a:noFill/>
        </p:spPr>
        <p:txBody>
          <a:bodyPr wrap="square" rtlCol="0">
            <a:spAutoFit/>
          </a:bodyPr>
          <a:lstStyle/>
          <a:p>
            <a:pPr defTabSz="484097">
              <a:spcAft>
                <a:spcPts val="588"/>
              </a:spcAft>
            </a:pPr>
            <a:r>
              <a:rPr lang="en-ZA" sz="3388">
                <a:latin typeface="Century" panose="02040604050505020304" pitchFamily="18" charset="0"/>
              </a:rPr>
              <a:t>Group 10</a:t>
            </a:r>
            <a:endParaRPr lang="en-ZA" sz="3200">
              <a:latin typeface="Century" panose="02040604050505020304" pitchFamily="18" charset="0"/>
            </a:endParaRPr>
          </a:p>
        </p:txBody>
      </p:sp>
    </p:spTree>
    <p:extLst>
      <p:ext uri="{BB962C8B-B14F-4D97-AF65-F5344CB8AC3E}">
        <p14:creationId xmlns:p14="http://schemas.microsoft.com/office/powerpoint/2010/main" val="320172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1418C4D-1663-4A0D-CFB0-6E663820D59F}"/>
              </a:ext>
            </a:extLst>
          </p:cNvPr>
          <p:cNvGraphicFramePr>
            <a:graphicFrameLocks noGrp="1"/>
          </p:cNvGraphicFramePr>
          <p:nvPr>
            <p:extLst>
              <p:ext uri="{D42A27DB-BD31-4B8C-83A1-F6EECF244321}">
                <p14:modId xmlns:p14="http://schemas.microsoft.com/office/powerpoint/2010/main" val="2604022308"/>
              </p:ext>
            </p:extLst>
          </p:nvPr>
        </p:nvGraphicFramePr>
        <p:xfrm>
          <a:off x="370512" y="263144"/>
          <a:ext cx="3788520" cy="1752600"/>
        </p:xfrm>
        <a:graphic>
          <a:graphicData uri="http://schemas.openxmlformats.org/drawingml/2006/table">
            <a:tbl>
              <a:tblPr bandRow="1">
                <a:tableStyleId>{35758FB7-9AC5-4552-8A53-C91805E547FA}</a:tableStyleId>
              </a:tblPr>
              <a:tblGrid>
                <a:gridCol w="1894260">
                  <a:extLst>
                    <a:ext uri="{9D8B030D-6E8A-4147-A177-3AD203B41FA5}">
                      <a16:colId xmlns:a16="http://schemas.microsoft.com/office/drawing/2014/main" val="197308474"/>
                    </a:ext>
                  </a:extLst>
                </a:gridCol>
                <a:gridCol w="1894260">
                  <a:extLst>
                    <a:ext uri="{9D8B030D-6E8A-4147-A177-3AD203B41FA5}">
                      <a16:colId xmlns:a16="http://schemas.microsoft.com/office/drawing/2014/main" val="2577911332"/>
                    </a:ext>
                  </a:extLst>
                </a:gridCol>
              </a:tblGrid>
              <a:tr h="370840">
                <a:tc>
                  <a:txBody>
                    <a:bodyPr/>
                    <a:lstStyle/>
                    <a:p>
                      <a:r>
                        <a:rPr lang="en-ZA" dirty="0"/>
                        <a:t>Minimum</a:t>
                      </a:r>
                    </a:p>
                  </a:txBody>
                  <a:tcPr/>
                </a:tc>
                <a:tc>
                  <a:txBody>
                    <a:bodyPr/>
                    <a:lstStyle/>
                    <a:p>
                      <a:r>
                        <a:rPr lang="en-ZA" dirty="0"/>
                        <a:t>0,0%</a:t>
                      </a:r>
                    </a:p>
                  </a:txBody>
                  <a:tcPr/>
                </a:tc>
                <a:extLst>
                  <a:ext uri="{0D108BD9-81ED-4DB2-BD59-A6C34878D82A}">
                    <a16:rowId xmlns:a16="http://schemas.microsoft.com/office/drawing/2014/main" val="2940309577"/>
                  </a:ext>
                </a:extLst>
              </a:tr>
              <a:tr h="370840">
                <a:tc>
                  <a:txBody>
                    <a:bodyPr/>
                    <a:lstStyle/>
                    <a:p>
                      <a:r>
                        <a:rPr lang="en-ZA" dirty="0"/>
                        <a:t>Maximum</a:t>
                      </a:r>
                    </a:p>
                  </a:txBody>
                  <a:tcPr/>
                </a:tc>
                <a:tc>
                  <a:txBody>
                    <a:bodyPr/>
                    <a:lstStyle/>
                    <a:p>
                      <a:r>
                        <a:rPr lang="en-ZA" dirty="0"/>
                        <a:t>99,0%</a:t>
                      </a:r>
                    </a:p>
                  </a:txBody>
                  <a:tcPr/>
                </a:tc>
                <a:extLst>
                  <a:ext uri="{0D108BD9-81ED-4DB2-BD59-A6C34878D82A}">
                    <a16:rowId xmlns:a16="http://schemas.microsoft.com/office/drawing/2014/main" val="3701769732"/>
                  </a:ext>
                </a:extLst>
              </a:tr>
              <a:tr h="370840">
                <a:tc>
                  <a:txBody>
                    <a:bodyPr/>
                    <a:lstStyle/>
                    <a:p>
                      <a:r>
                        <a:rPr lang="en-ZA" dirty="0"/>
                        <a:t>Average</a:t>
                      </a:r>
                    </a:p>
                  </a:txBody>
                  <a:tcPr/>
                </a:tc>
                <a:tc>
                  <a:txBody>
                    <a:bodyPr/>
                    <a:lstStyle/>
                    <a:p>
                      <a:r>
                        <a:rPr lang="en-ZA" dirty="0"/>
                        <a:t>61,7%</a:t>
                      </a:r>
                    </a:p>
                  </a:txBody>
                  <a:tcPr/>
                </a:tc>
                <a:extLst>
                  <a:ext uri="{0D108BD9-81ED-4DB2-BD59-A6C34878D82A}">
                    <a16:rowId xmlns:a16="http://schemas.microsoft.com/office/drawing/2014/main" val="3830103925"/>
                  </a:ext>
                </a:extLst>
              </a:tr>
              <a:tr h="633923">
                <a:tc>
                  <a:txBody>
                    <a:bodyPr/>
                    <a:lstStyle/>
                    <a:p>
                      <a:r>
                        <a:rPr lang="en-ZA" dirty="0"/>
                        <a:t>Standard Deviation</a:t>
                      </a:r>
                    </a:p>
                  </a:txBody>
                  <a:tcPr/>
                </a:tc>
                <a:tc>
                  <a:txBody>
                    <a:bodyPr/>
                    <a:lstStyle/>
                    <a:p>
                      <a:r>
                        <a:rPr lang="en-ZA" dirty="0"/>
                        <a:t>22,1%</a:t>
                      </a:r>
                    </a:p>
                  </a:txBody>
                  <a:tcPr/>
                </a:tc>
                <a:extLst>
                  <a:ext uri="{0D108BD9-81ED-4DB2-BD59-A6C34878D82A}">
                    <a16:rowId xmlns:a16="http://schemas.microsoft.com/office/drawing/2014/main" val="1997708211"/>
                  </a:ext>
                </a:extLst>
              </a:tr>
            </a:tbl>
          </a:graphicData>
        </a:graphic>
      </p:graphicFrame>
      <p:sp>
        <p:nvSpPr>
          <p:cNvPr id="7" name="TextBox 6">
            <a:extLst>
              <a:ext uri="{FF2B5EF4-FFF2-40B4-BE49-F238E27FC236}">
                <a16:creationId xmlns:a16="http://schemas.microsoft.com/office/drawing/2014/main" id="{4A0B45C0-4083-0C77-F0ED-A21CB5A9B310}"/>
              </a:ext>
            </a:extLst>
          </p:cNvPr>
          <p:cNvSpPr txBox="1"/>
          <p:nvPr/>
        </p:nvSpPr>
        <p:spPr>
          <a:xfrm>
            <a:off x="6446430" y="4063566"/>
            <a:ext cx="5590897" cy="1698157"/>
          </a:xfrm>
          <a:prstGeom prst="rect">
            <a:avLst/>
          </a:prstGeom>
          <a:noFill/>
        </p:spPr>
        <p:txBody>
          <a:bodyPr wrap="square" rtlCol="0">
            <a:spAutoFit/>
          </a:bodyPr>
          <a:lstStyle/>
          <a:p>
            <a:pPr defTabSz="841248">
              <a:spcAft>
                <a:spcPts val="600"/>
              </a:spcAft>
            </a:pPr>
            <a:r>
              <a:rPr lang="en-US" sz="1656" u="sng" dirty="0">
                <a:latin typeface="Century" panose="02040604050505020304" pitchFamily="18" charset="0"/>
              </a:rPr>
              <a:t>Data analysis</a:t>
            </a:r>
          </a:p>
          <a:p>
            <a:pPr defTabSz="841248">
              <a:spcAft>
                <a:spcPts val="600"/>
              </a:spcAft>
            </a:pPr>
            <a:r>
              <a:rPr lang="en-US" sz="1656" dirty="0">
                <a:latin typeface="Century" panose="02040604050505020304" pitchFamily="18" charset="0"/>
              </a:rPr>
              <a:t>The Histogram's shape of the data is negatively skewed, with data leaning towards the larger percentiles. This comes to show that majority of the customers have a higher PD and therefore have a higher chance of defaulting on their payments.</a:t>
            </a:r>
            <a:endParaRPr lang="en-ZA" dirty="0">
              <a:latin typeface="Century" panose="02040604050505020304" pitchFamily="18" charset="0"/>
            </a:endParaRPr>
          </a:p>
        </p:txBody>
      </p:sp>
      <p:sp>
        <p:nvSpPr>
          <p:cNvPr id="8" name="TextBox 7">
            <a:extLst>
              <a:ext uri="{FF2B5EF4-FFF2-40B4-BE49-F238E27FC236}">
                <a16:creationId xmlns:a16="http://schemas.microsoft.com/office/drawing/2014/main" id="{DC39DAF8-F9CE-E907-F9EB-85EF19C6FFD6}"/>
              </a:ext>
            </a:extLst>
          </p:cNvPr>
          <p:cNvSpPr txBox="1"/>
          <p:nvPr/>
        </p:nvSpPr>
        <p:spPr>
          <a:xfrm>
            <a:off x="370512" y="5079419"/>
            <a:ext cx="3861701" cy="1364604"/>
          </a:xfrm>
          <a:prstGeom prst="rect">
            <a:avLst/>
          </a:prstGeom>
          <a:noFill/>
        </p:spPr>
        <p:txBody>
          <a:bodyPr wrap="square" rtlCol="0">
            <a:spAutoFit/>
          </a:bodyPr>
          <a:lstStyle/>
          <a:p>
            <a:pPr defTabSz="841248">
              <a:spcAft>
                <a:spcPts val="600"/>
              </a:spcAft>
            </a:pPr>
            <a:r>
              <a:rPr lang="en-ZA" sz="1656" u="sng" dirty="0">
                <a:latin typeface="Century" panose="02040604050505020304" pitchFamily="18" charset="0"/>
              </a:rPr>
              <a:t>Default rate</a:t>
            </a:r>
          </a:p>
          <a:p>
            <a:pPr defTabSz="841248">
              <a:spcAft>
                <a:spcPts val="600"/>
              </a:spcAft>
            </a:pPr>
            <a:r>
              <a:rPr lang="en-ZA" sz="1656" dirty="0">
                <a:latin typeface="Century" panose="02040604050505020304" pitchFamily="18" charset="0"/>
              </a:rPr>
              <a:t>Actual default rate: 0,489434</a:t>
            </a:r>
          </a:p>
          <a:p>
            <a:pPr defTabSz="841248">
              <a:spcAft>
                <a:spcPts val="600"/>
              </a:spcAft>
            </a:pPr>
            <a:r>
              <a:rPr lang="en-ZA" sz="1656" dirty="0">
                <a:latin typeface="Century" panose="02040604050505020304" pitchFamily="18" charset="0"/>
              </a:rPr>
              <a:t>Default rate: 48,94% </a:t>
            </a:r>
          </a:p>
          <a:p>
            <a:pPr>
              <a:spcAft>
                <a:spcPts val="600"/>
              </a:spcAft>
            </a:pPr>
            <a:endParaRPr lang="en-ZA" dirty="0"/>
          </a:p>
        </p:txBody>
      </p:sp>
      <p:sp>
        <p:nvSpPr>
          <p:cNvPr id="9" name="TextBox 8">
            <a:extLst>
              <a:ext uri="{FF2B5EF4-FFF2-40B4-BE49-F238E27FC236}">
                <a16:creationId xmlns:a16="http://schemas.microsoft.com/office/drawing/2014/main" id="{40DB9FEB-9B28-17F0-CA0F-E36665E81BF9}"/>
              </a:ext>
            </a:extLst>
          </p:cNvPr>
          <p:cNvSpPr txBox="1"/>
          <p:nvPr/>
        </p:nvSpPr>
        <p:spPr>
          <a:xfrm>
            <a:off x="262869" y="2230993"/>
            <a:ext cx="5482702" cy="2385653"/>
          </a:xfrm>
          <a:prstGeom prst="rect">
            <a:avLst/>
          </a:prstGeom>
          <a:noFill/>
        </p:spPr>
        <p:txBody>
          <a:bodyPr wrap="square" rtlCol="0">
            <a:spAutoFit/>
          </a:bodyPr>
          <a:lstStyle/>
          <a:p>
            <a:pPr defTabSz="841248">
              <a:spcAft>
                <a:spcPts val="600"/>
              </a:spcAft>
            </a:pPr>
            <a:r>
              <a:rPr lang="en-US" sz="1656" dirty="0">
                <a:latin typeface="Century" panose="02040604050505020304" pitchFamily="18" charset="0"/>
              </a:rPr>
              <a:t>The analysis of how the average PD compares to the overall actual default rate will give insight into how accurate the model used is. The average PD = 61.7% and the overall actual default rate = 48.94%. The average PD being higher than the actual default rate is indicative of that the model used overestimates the likelihood of default amongst the customers, as the actual data suggests that customers tend to default less than predicted</a:t>
            </a:r>
            <a:endParaRPr lang="en-ZA" dirty="0">
              <a:latin typeface="Century" panose="02040604050505020304" pitchFamily="18" charset="0"/>
            </a:endParaRPr>
          </a:p>
        </p:txBody>
      </p:sp>
      <p:graphicFrame>
        <p:nvGraphicFramePr>
          <p:cNvPr id="3" name="Chart 2">
            <a:extLst>
              <a:ext uri="{FF2B5EF4-FFF2-40B4-BE49-F238E27FC236}">
                <a16:creationId xmlns:a16="http://schemas.microsoft.com/office/drawing/2014/main" id="{E76F56E2-7156-88D9-1989-CAB7F0D7EABA}"/>
              </a:ext>
            </a:extLst>
          </p:cNvPr>
          <p:cNvGraphicFramePr>
            <a:graphicFrameLocks/>
          </p:cNvGraphicFramePr>
          <p:nvPr>
            <p:extLst>
              <p:ext uri="{D42A27DB-BD31-4B8C-83A1-F6EECF244321}">
                <p14:modId xmlns:p14="http://schemas.microsoft.com/office/powerpoint/2010/main" val="663729165"/>
              </p:ext>
            </p:extLst>
          </p:nvPr>
        </p:nvGraphicFramePr>
        <p:xfrm>
          <a:off x="6446430" y="345812"/>
          <a:ext cx="5105801" cy="33398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60182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72B08E5-078D-07C1-08EE-0E5B80685C84}"/>
              </a:ext>
            </a:extLst>
          </p:cNvPr>
          <p:cNvGraphicFramePr>
            <a:graphicFrameLocks noGrp="1"/>
          </p:cNvGraphicFramePr>
          <p:nvPr>
            <p:extLst>
              <p:ext uri="{D42A27DB-BD31-4B8C-83A1-F6EECF244321}">
                <p14:modId xmlns:p14="http://schemas.microsoft.com/office/powerpoint/2010/main" val="2626379421"/>
              </p:ext>
            </p:extLst>
          </p:nvPr>
        </p:nvGraphicFramePr>
        <p:xfrm>
          <a:off x="1042869" y="1148528"/>
          <a:ext cx="10126416" cy="4560947"/>
        </p:xfrm>
        <a:graphic>
          <a:graphicData uri="http://schemas.openxmlformats.org/drawingml/2006/table">
            <a:tbl>
              <a:tblPr firstRow="1" bandRow="1">
                <a:tableStyleId>{BDBED569-4797-4DF1-A0F4-6AAB3CD982D8}</a:tableStyleId>
              </a:tblPr>
              <a:tblGrid>
                <a:gridCol w="2034325">
                  <a:extLst>
                    <a:ext uri="{9D8B030D-6E8A-4147-A177-3AD203B41FA5}">
                      <a16:colId xmlns:a16="http://schemas.microsoft.com/office/drawing/2014/main" val="4278052105"/>
                    </a:ext>
                  </a:extLst>
                </a:gridCol>
                <a:gridCol w="1194119">
                  <a:extLst>
                    <a:ext uri="{9D8B030D-6E8A-4147-A177-3AD203B41FA5}">
                      <a16:colId xmlns:a16="http://schemas.microsoft.com/office/drawing/2014/main" val="2644874944"/>
                    </a:ext>
                  </a:extLst>
                </a:gridCol>
                <a:gridCol w="6897972">
                  <a:extLst>
                    <a:ext uri="{9D8B030D-6E8A-4147-A177-3AD203B41FA5}">
                      <a16:colId xmlns:a16="http://schemas.microsoft.com/office/drawing/2014/main" val="1333673812"/>
                    </a:ext>
                  </a:extLst>
                </a:gridCol>
              </a:tblGrid>
              <a:tr h="524289">
                <a:tc>
                  <a:txBody>
                    <a:bodyPr/>
                    <a:lstStyle/>
                    <a:p>
                      <a:pPr algn="l" fontAlgn="b"/>
                      <a:r>
                        <a:rPr lang="en-ZA" sz="1900" b="1" u="none" strike="noStrike" cap="none" spc="0">
                          <a:solidFill>
                            <a:schemeClr val="tx1"/>
                          </a:solidFill>
                          <a:effectLst/>
                        </a:rPr>
                        <a:t>Statistic Name</a:t>
                      </a:r>
                      <a:endParaRPr lang="en-ZA" sz="1900" b="1"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b"/>
                      <a:r>
                        <a:rPr lang="en-ZA" sz="1900" b="1" u="none" strike="noStrike" cap="none" spc="0">
                          <a:solidFill>
                            <a:schemeClr val="tx1"/>
                          </a:solidFill>
                          <a:effectLst/>
                        </a:rPr>
                        <a:t>Statisitc</a:t>
                      </a:r>
                      <a:endParaRPr lang="en-ZA" sz="1900" b="1"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b"/>
                      <a:r>
                        <a:rPr lang="en-ZA" sz="1900" b="1" u="none" strike="noStrike" cap="none" spc="0" dirty="0">
                          <a:solidFill>
                            <a:schemeClr val="tx1"/>
                          </a:solidFill>
                          <a:effectLst/>
                        </a:rPr>
                        <a:t>Comments</a:t>
                      </a:r>
                      <a:endParaRPr lang="en-ZA" sz="1900" b="1" i="0" u="none" strike="noStrike" cap="none" spc="0" dirty="0">
                        <a:solidFill>
                          <a:schemeClr val="tx1"/>
                        </a:solidFill>
                        <a:effectLst/>
                        <a:latin typeface="Calibri" panose="020F0502020204030204" pitchFamily="34" charset="0"/>
                      </a:endParaRPr>
                    </a:p>
                  </a:txBody>
                  <a:tcPr marL="76993" marR="26385" marT="21998" marB="164986" anchor="b"/>
                </a:tc>
                <a:extLst>
                  <a:ext uri="{0D108BD9-81ED-4DB2-BD59-A6C34878D82A}">
                    <a16:rowId xmlns:a16="http://schemas.microsoft.com/office/drawing/2014/main" val="579038853"/>
                  </a:ext>
                </a:extLst>
              </a:tr>
              <a:tr h="450962">
                <a:tc>
                  <a:txBody>
                    <a:bodyPr/>
                    <a:lstStyle/>
                    <a:p>
                      <a:pPr algn="l" fontAlgn="b"/>
                      <a:r>
                        <a:rPr lang="en-ZA" sz="1400" u="none" strike="noStrike" cap="none" spc="0">
                          <a:solidFill>
                            <a:schemeClr val="tx1"/>
                          </a:solidFill>
                          <a:effectLst/>
                        </a:rPr>
                        <a:t>Min</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a:solidFill>
                            <a:schemeClr val="tx1"/>
                          </a:solidFill>
                          <a:effectLst/>
                        </a:rPr>
                        <a:t>0</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t"/>
                      <a:r>
                        <a:rPr lang="en-US" sz="1400" u="none" strike="noStrike" cap="none" spc="0">
                          <a:solidFill>
                            <a:schemeClr val="tx1"/>
                          </a:solidFill>
                          <a:effectLst/>
                        </a:rPr>
                        <a:t>This data's minimum number is zero</a:t>
                      </a:r>
                      <a:endParaRPr lang="en-US" sz="1400" b="0" i="0" u="none" strike="noStrike" cap="none" spc="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905916555"/>
                  </a:ext>
                </a:extLst>
              </a:tr>
              <a:tr h="450962">
                <a:tc>
                  <a:txBody>
                    <a:bodyPr/>
                    <a:lstStyle/>
                    <a:p>
                      <a:pPr algn="l" fontAlgn="b"/>
                      <a:r>
                        <a:rPr lang="en-ZA" sz="1400" u="none" strike="noStrike" cap="none" spc="0">
                          <a:solidFill>
                            <a:schemeClr val="tx1"/>
                          </a:solidFill>
                          <a:effectLst/>
                        </a:rPr>
                        <a:t>Max</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a:solidFill>
                            <a:schemeClr val="tx1"/>
                          </a:solidFill>
                          <a:effectLst/>
                        </a:rPr>
                        <a:t>999</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t"/>
                      <a:r>
                        <a:rPr lang="en-ZA" sz="1400" u="none" strike="noStrike" cap="none" spc="0" dirty="0">
                          <a:solidFill>
                            <a:schemeClr val="tx1"/>
                          </a:solidFill>
                          <a:effectLst/>
                        </a:rPr>
                        <a:t> </a:t>
                      </a:r>
                      <a:endParaRPr lang="en-ZA" sz="1400" b="0" i="0" u="none" strike="noStrike" cap="none" spc="0" dirty="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3529097068"/>
                  </a:ext>
                </a:extLst>
              </a:tr>
              <a:tr h="450962">
                <a:tc>
                  <a:txBody>
                    <a:bodyPr/>
                    <a:lstStyle/>
                    <a:p>
                      <a:pPr algn="l" fontAlgn="b"/>
                      <a:r>
                        <a:rPr lang="en-ZA" sz="1400" u="none" strike="noStrike" cap="none" spc="0">
                          <a:solidFill>
                            <a:schemeClr val="tx1"/>
                          </a:solidFill>
                          <a:effectLst/>
                        </a:rPr>
                        <a:t>Average</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a:solidFill>
                            <a:schemeClr val="tx1"/>
                          </a:solidFill>
                          <a:effectLst/>
                        </a:rPr>
                        <a:t>19,32759</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t"/>
                      <a:r>
                        <a:rPr lang="en-US" sz="1400" u="none" strike="noStrike" cap="none" spc="0" dirty="0">
                          <a:solidFill>
                            <a:schemeClr val="tx1"/>
                          </a:solidFill>
                          <a:effectLst/>
                        </a:rPr>
                        <a:t>This number may be affected by the presence of many zeros</a:t>
                      </a:r>
                      <a:endParaRPr lang="en-US" sz="1400" b="0" i="0" u="none" strike="noStrike" cap="none" spc="0" dirty="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878286648"/>
                  </a:ext>
                </a:extLst>
              </a:tr>
              <a:tr h="670943">
                <a:tc>
                  <a:txBody>
                    <a:bodyPr/>
                    <a:lstStyle/>
                    <a:p>
                      <a:pPr algn="l" fontAlgn="b"/>
                      <a:r>
                        <a:rPr lang="en-ZA" sz="1400" u="none" strike="noStrike" cap="none" spc="0">
                          <a:solidFill>
                            <a:schemeClr val="tx1"/>
                          </a:solidFill>
                          <a:effectLst/>
                        </a:rPr>
                        <a:t>Median</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dirty="0">
                          <a:solidFill>
                            <a:schemeClr val="tx1"/>
                          </a:solidFill>
                          <a:effectLst/>
                        </a:rPr>
                        <a:t>2</a:t>
                      </a:r>
                      <a:endParaRPr lang="en-ZA" sz="1400" b="0" i="0" u="none" strike="noStrike" cap="none" spc="0" dirty="0">
                        <a:solidFill>
                          <a:schemeClr val="tx1"/>
                        </a:solidFill>
                        <a:effectLst/>
                        <a:latin typeface="Calibri" panose="020F0502020204030204" pitchFamily="34" charset="0"/>
                      </a:endParaRPr>
                    </a:p>
                  </a:txBody>
                  <a:tcPr marL="76993" marR="26385" marT="21998" marB="164986" anchor="b"/>
                </a:tc>
                <a:tc>
                  <a:txBody>
                    <a:bodyPr/>
                    <a:lstStyle/>
                    <a:p>
                      <a:pPr algn="l" fontAlgn="t"/>
                      <a:r>
                        <a:rPr lang="en-US" sz="1400" u="none" strike="noStrike" cap="none" spc="0" dirty="0">
                          <a:solidFill>
                            <a:schemeClr val="tx1"/>
                          </a:solidFill>
                          <a:effectLst/>
                        </a:rPr>
                        <a:t>This is indicative that this data lies mostly in the first few numbers since the middle most number is 2</a:t>
                      </a:r>
                      <a:endParaRPr lang="en-US" sz="1400" b="0" i="0" u="none" strike="noStrike" cap="none" spc="0" dirty="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49818226"/>
                  </a:ext>
                </a:extLst>
              </a:tr>
              <a:tr h="670943">
                <a:tc>
                  <a:txBody>
                    <a:bodyPr/>
                    <a:lstStyle/>
                    <a:p>
                      <a:pPr algn="l" fontAlgn="b"/>
                      <a:r>
                        <a:rPr lang="en-ZA" sz="1400" u="none" strike="noStrike" cap="none" spc="0">
                          <a:solidFill>
                            <a:schemeClr val="tx1"/>
                          </a:solidFill>
                          <a:effectLst/>
                        </a:rPr>
                        <a:t>Mode</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a:solidFill>
                            <a:schemeClr val="tx1"/>
                          </a:solidFill>
                          <a:effectLst/>
                        </a:rPr>
                        <a:t>1</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t"/>
                      <a:r>
                        <a:rPr lang="en-US" sz="1400" u="none" strike="noStrike" cap="none" spc="0">
                          <a:solidFill>
                            <a:schemeClr val="tx1"/>
                          </a:solidFill>
                          <a:effectLst/>
                        </a:rPr>
                        <a:t>This is indicative that this data lies mostly in the first few numbers since the number that appears the most is 1</a:t>
                      </a:r>
                      <a:endParaRPr lang="en-US" sz="1400" b="0" i="0" u="none" strike="noStrike" cap="none" spc="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12261750"/>
                  </a:ext>
                </a:extLst>
              </a:tr>
              <a:tr h="670943">
                <a:tc>
                  <a:txBody>
                    <a:bodyPr/>
                    <a:lstStyle/>
                    <a:p>
                      <a:pPr algn="l" fontAlgn="b"/>
                      <a:r>
                        <a:rPr lang="en-ZA" sz="1400" u="none" strike="noStrike" cap="none" spc="0" dirty="0">
                          <a:solidFill>
                            <a:schemeClr val="tx1"/>
                          </a:solidFill>
                          <a:effectLst/>
                        </a:rPr>
                        <a:t>% observations where zero</a:t>
                      </a:r>
                      <a:endParaRPr lang="en-ZA" sz="1400" b="0" i="0" u="none" strike="noStrike" cap="none" spc="0" dirty="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a:solidFill>
                            <a:schemeClr val="tx1"/>
                          </a:solidFill>
                          <a:effectLst/>
                        </a:rPr>
                        <a:t>21,3%</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t"/>
                      <a:r>
                        <a:rPr lang="en-US" sz="1400" u="none" strike="noStrike" cap="none" spc="0">
                          <a:solidFill>
                            <a:schemeClr val="tx1"/>
                          </a:solidFill>
                          <a:effectLst/>
                        </a:rPr>
                        <a:t>21.3% of entries in this data are zeros and this definetly has an impact on the data's average</a:t>
                      </a:r>
                      <a:endParaRPr lang="en-US" sz="1400" b="0" i="0" u="none" strike="noStrike" cap="none" spc="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1268252249"/>
                  </a:ext>
                </a:extLst>
              </a:tr>
              <a:tr h="670943">
                <a:tc>
                  <a:txBody>
                    <a:bodyPr/>
                    <a:lstStyle/>
                    <a:p>
                      <a:pPr algn="l" fontAlgn="b"/>
                      <a:r>
                        <a:rPr lang="en-ZA" sz="1400" u="none" strike="noStrike" cap="none" spc="0">
                          <a:solidFill>
                            <a:schemeClr val="tx1"/>
                          </a:solidFill>
                          <a:effectLst/>
                        </a:rPr>
                        <a:t>Average excluding zeros</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r" fontAlgn="b"/>
                      <a:r>
                        <a:rPr lang="en-ZA" sz="1400" u="none" strike="noStrike" cap="none" spc="0">
                          <a:solidFill>
                            <a:schemeClr val="tx1"/>
                          </a:solidFill>
                          <a:effectLst/>
                        </a:rPr>
                        <a:t>24,54356</a:t>
                      </a:r>
                      <a:endParaRPr lang="en-ZA" sz="1400" b="0" i="0" u="none" strike="noStrike" cap="none" spc="0">
                        <a:solidFill>
                          <a:schemeClr val="tx1"/>
                        </a:solidFill>
                        <a:effectLst/>
                        <a:latin typeface="Calibri" panose="020F0502020204030204" pitchFamily="34" charset="0"/>
                      </a:endParaRPr>
                    </a:p>
                  </a:txBody>
                  <a:tcPr marL="76993" marR="26385" marT="21998" marB="164986" anchor="b"/>
                </a:tc>
                <a:tc>
                  <a:txBody>
                    <a:bodyPr/>
                    <a:lstStyle/>
                    <a:p>
                      <a:pPr algn="l" fontAlgn="t"/>
                      <a:r>
                        <a:rPr lang="en-US" sz="1400" u="none" strike="noStrike" cap="none" spc="0" dirty="0">
                          <a:solidFill>
                            <a:schemeClr val="tx1"/>
                          </a:solidFill>
                          <a:effectLst/>
                        </a:rPr>
                        <a:t>The average changes and goes up without the influence of zeros</a:t>
                      </a:r>
                      <a:endParaRPr lang="en-US" sz="1400" b="0" i="0" u="none" strike="noStrike" cap="none" spc="0" dirty="0">
                        <a:solidFill>
                          <a:schemeClr val="tx1"/>
                        </a:solidFill>
                        <a:effectLst/>
                        <a:latin typeface="Calibri" panose="020F0502020204030204" pitchFamily="34" charset="0"/>
                      </a:endParaRPr>
                    </a:p>
                  </a:txBody>
                  <a:tcPr marL="76993" marR="26385" marT="21998" marB="164986"/>
                </a:tc>
                <a:extLst>
                  <a:ext uri="{0D108BD9-81ED-4DB2-BD59-A6C34878D82A}">
                    <a16:rowId xmlns:a16="http://schemas.microsoft.com/office/drawing/2014/main" val="1348708689"/>
                  </a:ext>
                </a:extLst>
              </a:tr>
            </a:tbl>
          </a:graphicData>
        </a:graphic>
      </p:graphicFrame>
    </p:spTree>
    <p:extLst>
      <p:ext uri="{BB962C8B-B14F-4D97-AF65-F5344CB8AC3E}">
        <p14:creationId xmlns:p14="http://schemas.microsoft.com/office/powerpoint/2010/main" val="2847701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AAA59F8-C855-1006-735B-1D43C331F4E8}"/>
              </a:ext>
            </a:extLst>
          </p:cNvPr>
          <p:cNvGraphicFramePr>
            <a:graphicFrameLocks noGrp="1"/>
          </p:cNvGraphicFramePr>
          <p:nvPr>
            <p:extLst>
              <p:ext uri="{D42A27DB-BD31-4B8C-83A1-F6EECF244321}">
                <p14:modId xmlns:p14="http://schemas.microsoft.com/office/powerpoint/2010/main" val="4107722408"/>
              </p:ext>
            </p:extLst>
          </p:nvPr>
        </p:nvGraphicFramePr>
        <p:xfrm>
          <a:off x="497885" y="505586"/>
          <a:ext cx="3575712" cy="4039738"/>
        </p:xfrm>
        <a:graphic>
          <a:graphicData uri="http://schemas.openxmlformats.org/drawingml/2006/table">
            <a:tbl>
              <a:tblPr>
                <a:tableStyleId>{C4B1156A-380E-4F78-BDF5-A606A8083BF9}</a:tableStyleId>
              </a:tblPr>
              <a:tblGrid>
                <a:gridCol w="2220084">
                  <a:extLst>
                    <a:ext uri="{9D8B030D-6E8A-4147-A177-3AD203B41FA5}">
                      <a16:colId xmlns:a16="http://schemas.microsoft.com/office/drawing/2014/main" val="3071426427"/>
                    </a:ext>
                  </a:extLst>
                </a:gridCol>
                <a:gridCol w="1355628">
                  <a:extLst>
                    <a:ext uri="{9D8B030D-6E8A-4147-A177-3AD203B41FA5}">
                      <a16:colId xmlns:a16="http://schemas.microsoft.com/office/drawing/2014/main" val="4061854442"/>
                    </a:ext>
                  </a:extLst>
                </a:gridCol>
              </a:tblGrid>
              <a:tr h="380390">
                <a:tc>
                  <a:txBody>
                    <a:bodyPr/>
                    <a:lstStyle/>
                    <a:p>
                      <a:pPr algn="l" fontAlgn="b"/>
                      <a:r>
                        <a:rPr lang="en-ZA" sz="1100" u="none" strike="noStrike">
                          <a:effectLst/>
                        </a:rPr>
                        <a:t>Statistic Name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a:effectLst/>
                        </a:rPr>
                        <a:t>Statisitc</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39892051"/>
                  </a:ext>
                </a:extLst>
              </a:tr>
              <a:tr h="380390">
                <a:tc>
                  <a:txBody>
                    <a:bodyPr/>
                    <a:lstStyle/>
                    <a:p>
                      <a:pPr algn="l" fontAlgn="b"/>
                      <a:r>
                        <a:rPr lang="en-ZA" sz="1100" u="none" strike="noStrike">
                          <a:effectLst/>
                        </a:rPr>
                        <a:t>Min</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-91919</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79884835"/>
                  </a:ext>
                </a:extLst>
              </a:tr>
              <a:tr h="380390">
                <a:tc>
                  <a:txBody>
                    <a:bodyPr/>
                    <a:lstStyle/>
                    <a:p>
                      <a:pPr algn="l" fontAlgn="b"/>
                      <a:r>
                        <a:rPr lang="en-ZA" sz="1100" u="none" strike="noStrike">
                          <a:effectLst/>
                        </a:rPr>
                        <a:t>Max</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12772</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78965374"/>
                  </a:ext>
                </a:extLst>
              </a:tr>
              <a:tr h="380390">
                <a:tc>
                  <a:txBody>
                    <a:bodyPr/>
                    <a:lstStyle/>
                    <a:p>
                      <a:pPr algn="l" fontAlgn="b"/>
                      <a:r>
                        <a:rPr lang="en-ZA" sz="1100" u="none" strike="noStrike">
                          <a:effectLst/>
                        </a:rPr>
                        <a:t>Average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2567,518177</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03499711"/>
                  </a:ext>
                </a:extLst>
              </a:tr>
              <a:tr h="380390">
                <a:tc>
                  <a:txBody>
                    <a:bodyPr/>
                    <a:lstStyle/>
                    <a:p>
                      <a:pPr algn="l" fontAlgn="b"/>
                      <a:r>
                        <a:rPr lang="en-ZA" sz="1100" u="none" strike="noStrike">
                          <a:effectLst/>
                        </a:rPr>
                        <a:t>Median</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2076</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84710973"/>
                  </a:ext>
                </a:extLst>
              </a:tr>
              <a:tr h="380390">
                <a:tc>
                  <a:txBody>
                    <a:bodyPr/>
                    <a:lstStyle/>
                    <a:p>
                      <a:pPr algn="l" fontAlgn="b"/>
                      <a:r>
                        <a:rPr lang="en-ZA" sz="1100" u="none" strike="noStrike">
                          <a:effectLst/>
                        </a:rPr>
                        <a:t>Mode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0</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9149536"/>
                  </a:ext>
                </a:extLst>
              </a:tr>
              <a:tr h="688504">
                <a:tc>
                  <a:txBody>
                    <a:bodyPr/>
                    <a:lstStyle/>
                    <a:p>
                      <a:pPr algn="l" fontAlgn="b"/>
                      <a:r>
                        <a:rPr lang="en-ZA" sz="1100" u="none" strike="noStrike" dirty="0">
                          <a:effectLst/>
                        </a:rPr>
                        <a:t>% observations where zero</a:t>
                      </a:r>
                      <a:endParaRPr lang="en-ZA"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0,28%</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10563813"/>
                  </a:ext>
                </a:extLst>
              </a:tr>
              <a:tr h="688504">
                <a:tc>
                  <a:txBody>
                    <a:bodyPr/>
                    <a:lstStyle/>
                    <a:p>
                      <a:pPr algn="l" fontAlgn="b"/>
                      <a:r>
                        <a:rPr lang="en-ZA" sz="1100" u="none" strike="noStrike">
                          <a:effectLst/>
                        </a:rPr>
                        <a:t>Average excluding special code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2823,707773</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2905322"/>
                  </a:ext>
                </a:extLst>
              </a:tr>
              <a:tr h="380390">
                <a:tc>
                  <a:txBody>
                    <a:bodyPr/>
                    <a:lstStyle/>
                    <a:p>
                      <a:pPr algn="l" fontAlgn="b"/>
                      <a:r>
                        <a:rPr lang="pl-PL" sz="1100" u="none" strike="noStrike">
                          <a:effectLst/>
                        </a:rPr>
                        <a:t>Min w/o special code</a:t>
                      </a:r>
                      <a:endParaRPr lang="pl-P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0</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61786583"/>
                  </a:ext>
                </a:extLst>
              </a:tr>
            </a:tbl>
          </a:graphicData>
        </a:graphic>
      </p:graphicFrame>
      <p:graphicFrame>
        <p:nvGraphicFramePr>
          <p:cNvPr id="5" name="Table 4">
            <a:extLst>
              <a:ext uri="{FF2B5EF4-FFF2-40B4-BE49-F238E27FC236}">
                <a16:creationId xmlns:a16="http://schemas.microsoft.com/office/drawing/2014/main" id="{F034724A-471B-07D8-EF0F-3DD6B028C25D}"/>
              </a:ext>
            </a:extLst>
          </p:cNvPr>
          <p:cNvGraphicFramePr>
            <a:graphicFrameLocks noGrp="1"/>
          </p:cNvGraphicFramePr>
          <p:nvPr>
            <p:extLst>
              <p:ext uri="{D42A27DB-BD31-4B8C-83A1-F6EECF244321}">
                <p14:modId xmlns:p14="http://schemas.microsoft.com/office/powerpoint/2010/main" val="1321982853"/>
              </p:ext>
            </p:extLst>
          </p:nvPr>
        </p:nvGraphicFramePr>
        <p:xfrm>
          <a:off x="497885" y="4641011"/>
          <a:ext cx="3575712" cy="1711403"/>
        </p:xfrm>
        <a:graphic>
          <a:graphicData uri="http://schemas.openxmlformats.org/drawingml/2006/table">
            <a:tbl>
              <a:tblPr>
                <a:tableStyleId>{C4B1156A-380E-4F78-BDF5-A606A8083BF9}</a:tableStyleId>
              </a:tblPr>
              <a:tblGrid>
                <a:gridCol w="2681785">
                  <a:extLst>
                    <a:ext uri="{9D8B030D-6E8A-4147-A177-3AD203B41FA5}">
                      <a16:colId xmlns:a16="http://schemas.microsoft.com/office/drawing/2014/main" val="952055344"/>
                    </a:ext>
                  </a:extLst>
                </a:gridCol>
                <a:gridCol w="893927">
                  <a:extLst>
                    <a:ext uri="{9D8B030D-6E8A-4147-A177-3AD203B41FA5}">
                      <a16:colId xmlns:a16="http://schemas.microsoft.com/office/drawing/2014/main" val="669166096"/>
                    </a:ext>
                  </a:extLst>
                </a:gridCol>
              </a:tblGrid>
              <a:tr h="307943">
                <a:tc>
                  <a:txBody>
                    <a:bodyPr/>
                    <a:lstStyle/>
                    <a:p>
                      <a:pPr algn="ctr" fontAlgn="b"/>
                      <a:r>
                        <a:rPr lang="en-ZA" sz="1100" u="none" strike="noStrike" dirty="0">
                          <a:effectLst/>
                        </a:rPr>
                        <a:t>Min</a:t>
                      </a:r>
                      <a:endParaRPr lang="en-ZA"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0</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6218876"/>
                  </a:ext>
                </a:extLst>
              </a:tr>
              <a:tr h="350865">
                <a:tc>
                  <a:txBody>
                    <a:bodyPr/>
                    <a:lstStyle/>
                    <a:p>
                      <a:pPr algn="ctr" fontAlgn="b"/>
                      <a:r>
                        <a:rPr lang="en-ZA" sz="1100" u="none" strike="noStrike">
                          <a:effectLst/>
                        </a:rPr>
                        <a:t>1st Quartile (25%)</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861</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82540456"/>
                  </a:ext>
                </a:extLst>
              </a:tr>
              <a:tr h="350865">
                <a:tc>
                  <a:txBody>
                    <a:bodyPr/>
                    <a:lstStyle/>
                    <a:p>
                      <a:pPr algn="ctr" fontAlgn="b"/>
                      <a:r>
                        <a:rPr lang="en-ZA" sz="1100" u="none" strike="noStrike">
                          <a:effectLst/>
                        </a:rPr>
                        <a:t>2nd Quartile (50%)</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2076</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62799387"/>
                  </a:ext>
                </a:extLst>
              </a:tr>
              <a:tr h="350865">
                <a:tc>
                  <a:txBody>
                    <a:bodyPr/>
                    <a:lstStyle/>
                    <a:p>
                      <a:pPr algn="ctr" fontAlgn="b"/>
                      <a:r>
                        <a:rPr lang="en-ZA" sz="1100" u="none" strike="noStrike">
                          <a:effectLst/>
                        </a:rPr>
                        <a:t>3rd Quartile (75%)</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4053</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72636200"/>
                  </a:ext>
                </a:extLst>
              </a:tr>
              <a:tr h="350865">
                <a:tc>
                  <a:txBody>
                    <a:bodyPr/>
                    <a:lstStyle/>
                    <a:p>
                      <a:pPr algn="ctr" fontAlgn="b"/>
                      <a:r>
                        <a:rPr lang="en-ZA" sz="1100" u="none" strike="noStrike">
                          <a:effectLst/>
                        </a:rPr>
                        <a:t>Max</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12772</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13625455"/>
                  </a:ext>
                </a:extLst>
              </a:tr>
            </a:tbl>
          </a:graphicData>
        </a:graphic>
      </p:graphicFrame>
      <p:graphicFrame>
        <p:nvGraphicFramePr>
          <p:cNvPr id="6" name="Chart 5">
            <a:extLst>
              <a:ext uri="{FF2B5EF4-FFF2-40B4-BE49-F238E27FC236}">
                <a16:creationId xmlns:a16="http://schemas.microsoft.com/office/drawing/2014/main" id="{E5E8B877-4CB3-3F2C-C39D-C2FA4FAA180C}"/>
              </a:ext>
            </a:extLst>
          </p:cNvPr>
          <p:cNvGraphicFramePr>
            <a:graphicFrameLocks/>
          </p:cNvGraphicFramePr>
          <p:nvPr>
            <p:extLst>
              <p:ext uri="{D42A27DB-BD31-4B8C-83A1-F6EECF244321}">
                <p14:modId xmlns:p14="http://schemas.microsoft.com/office/powerpoint/2010/main" val="1103055231"/>
              </p:ext>
            </p:extLst>
          </p:nvPr>
        </p:nvGraphicFramePr>
        <p:xfrm>
          <a:off x="4138828" y="510300"/>
          <a:ext cx="5905924" cy="3638621"/>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128B892C-98FE-21FB-1E39-8D4A458C0842}"/>
              </a:ext>
            </a:extLst>
          </p:cNvPr>
          <p:cNvSpPr txBox="1"/>
          <p:nvPr/>
        </p:nvSpPr>
        <p:spPr>
          <a:xfrm>
            <a:off x="4390781" y="4073213"/>
            <a:ext cx="6165376" cy="1569660"/>
          </a:xfrm>
          <a:prstGeom prst="rect">
            <a:avLst/>
          </a:prstGeom>
          <a:noFill/>
        </p:spPr>
        <p:txBody>
          <a:bodyPr wrap="square">
            <a:spAutoFit/>
          </a:bodyPr>
          <a:lstStyle/>
          <a:p>
            <a:pPr algn="just"/>
            <a:r>
              <a:rPr lang="en-US" sz="1600" dirty="0"/>
              <a:t>Upon observing the histogram, the data in the histogram is positively skewed, meaning that the majority of data points are concentrated on the lower end of the distribution, with a tail extending towards the higher end. In other words, there are fewer occurrences of extremely high values, and the bulk of the data tends to cluster towards the lower values.</a:t>
            </a:r>
            <a:endParaRPr lang="en-ZA" sz="1600" dirty="0"/>
          </a:p>
        </p:txBody>
      </p:sp>
    </p:spTree>
    <p:extLst>
      <p:ext uri="{BB962C8B-B14F-4D97-AF65-F5344CB8AC3E}">
        <p14:creationId xmlns:p14="http://schemas.microsoft.com/office/powerpoint/2010/main" val="394252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53843E3-67DD-7B44-2E9F-22B4A8ED4488}"/>
              </a:ext>
            </a:extLst>
          </p:cNvPr>
          <p:cNvGraphicFramePr>
            <a:graphicFrameLocks noGrp="1"/>
          </p:cNvGraphicFramePr>
          <p:nvPr>
            <p:extLst>
              <p:ext uri="{D42A27DB-BD31-4B8C-83A1-F6EECF244321}">
                <p14:modId xmlns:p14="http://schemas.microsoft.com/office/powerpoint/2010/main" val="2376729548"/>
              </p:ext>
            </p:extLst>
          </p:nvPr>
        </p:nvGraphicFramePr>
        <p:xfrm>
          <a:off x="264233" y="279145"/>
          <a:ext cx="5831766" cy="1516329"/>
        </p:xfrm>
        <a:graphic>
          <a:graphicData uri="http://schemas.openxmlformats.org/drawingml/2006/table">
            <a:tbl>
              <a:tblPr>
                <a:tableStyleId>{35758FB7-9AC5-4552-8A53-C91805E547FA}</a:tableStyleId>
              </a:tblPr>
              <a:tblGrid>
                <a:gridCol w="1305407">
                  <a:extLst>
                    <a:ext uri="{9D8B030D-6E8A-4147-A177-3AD203B41FA5}">
                      <a16:colId xmlns:a16="http://schemas.microsoft.com/office/drawing/2014/main" val="1513661760"/>
                    </a:ext>
                  </a:extLst>
                </a:gridCol>
                <a:gridCol w="1802031">
                  <a:extLst>
                    <a:ext uri="{9D8B030D-6E8A-4147-A177-3AD203B41FA5}">
                      <a16:colId xmlns:a16="http://schemas.microsoft.com/office/drawing/2014/main" val="2415941819"/>
                    </a:ext>
                  </a:extLst>
                </a:gridCol>
                <a:gridCol w="1589191">
                  <a:extLst>
                    <a:ext uri="{9D8B030D-6E8A-4147-A177-3AD203B41FA5}">
                      <a16:colId xmlns:a16="http://schemas.microsoft.com/office/drawing/2014/main" val="1686049187"/>
                    </a:ext>
                  </a:extLst>
                </a:gridCol>
                <a:gridCol w="1135137">
                  <a:extLst>
                    <a:ext uri="{9D8B030D-6E8A-4147-A177-3AD203B41FA5}">
                      <a16:colId xmlns:a16="http://schemas.microsoft.com/office/drawing/2014/main" val="3545518596"/>
                    </a:ext>
                  </a:extLst>
                </a:gridCol>
              </a:tblGrid>
              <a:tr h="570594">
                <a:tc>
                  <a:txBody>
                    <a:bodyPr/>
                    <a:lstStyle/>
                    <a:p>
                      <a:pPr algn="l" fontAlgn="b"/>
                      <a:r>
                        <a:rPr lang="en-ZA" sz="1100" u="none" strike="noStrike">
                          <a:effectLst/>
                        </a:rPr>
                        <a:t>Row Labels</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a:effectLst/>
                        </a:rPr>
                        <a:t>Count of cust_no</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dirty="0">
                          <a:effectLst/>
                        </a:rPr>
                        <a:t>Sum of </a:t>
                      </a:r>
                      <a:r>
                        <a:rPr lang="en-ZA" sz="1100" u="none" strike="noStrike" dirty="0" err="1">
                          <a:effectLst/>
                        </a:rPr>
                        <a:t>default_ind</a:t>
                      </a:r>
                      <a:endParaRPr lang="en-ZA"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dirty="0">
                          <a:effectLst/>
                        </a:rPr>
                        <a:t>default rate</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84314553"/>
                  </a:ext>
                </a:extLst>
              </a:tr>
              <a:tr h="315245">
                <a:tc>
                  <a:txBody>
                    <a:bodyPr/>
                    <a:lstStyle/>
                    <a:p>
                      <a:pPr algn="l" fontAlgn="b"/>
                      <a:r>
                        <a:rPr lang="en-ZA" sz="1100" u="none" strike="noStrike">
                          <a:effectLst/>
                        </a:rPr>
                        <a:t>above average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3872</a:t>
                      </a:r>
                      <a:endParaRPr lang="en-ZA"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1412</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36,5%</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69937419"/>
                  </a:ext>
                </a:extLst>
              </a:tr>
              <a:tr h="315245">
                <a:tc>
                  <a:txBody>
                    <a:bodyPr/>
                    <a:lstStyle/>
                    <a:p>
                      <a:pPr algn="l" fontAlgn="b"/>
                      <a:r>
                        <a:rPr lang="en-ZA" sz="1100" u="none" strike="noStrike">
                          <a:effectLst/>
                        </a:rPr>
                        <a:t>below average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6113</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3475</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56,8%</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17975314"/>
                  </a:ext>
                </a:extLst>
              </a:tr>
              <a:tr h="315245">
                <a:tc>
                  <a:txBody>
                    <a:bodyPr/>
                    <a:lstStyle/>
                    <a:p>
                      <a:pPr algn="l" fontAlgn="b"/>
                      <a:r>
                        <a:rPr lang="en-ZA" sz="1100" u="none" strike="noStrike">
                          <a:effectLst/>
                        </a:rPr>
                        <a:t>Grand Total</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9985</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4887</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48,9%</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65539152"/>
                  </a:ext>
                </a:extLst>
              </a:tr>
            </a:tbl>
          </a:graphicData>
        </a:graphic>
      </p:graphicFrame>
      <p:sp>
        <p:nvSpPr>
          <p:cNvPr id="6" name="TextBox 5">
            <a:extLst>
              <a:ext uri="{FF2B5EF4-FFF2-40B4-BE49-F238E27FC236}">
                <a16:creationId xmlns:a16="http://schemas.microsoft.com/office/drawing/2014/main" id="{7247203C-D186-3185-A442-4D50BF3CD462}"/>
              </a:ext>
            </a:extLst>
          </p:cNvPr>
          <p:cNvSpPr txBox="1"/>
          <p:nvPr/>
        </p:nvSpPr>
        <p:spPr>
          <a:xfrm>
            <a:off x="264233" y="1974178"/>
            <a:ext cx="6093724" cy="1169551"/>
          </a:xfrm>
          <a:prstGeom prst="rect">
            <a:avLst/>
          </a:prstGeom>
          <a:noFill/>
        </p:spPr>
        <p:txBody>
          <a:bodyPr wrap="square">
            <a:spAutoFit/>
          </a:bodyPr>
          <a:lstStyle/>
          <a:p>
            <a:pPr algn="just"/>
            <a:r>
              <a:rPr lang="en-US" sz="1400" dirty="0"/>
              <a:t>Customers with a feature 5 value that is below average seem to have a higher default rate than customers with a feature 5 value that is above average, this seems to be a promising differentiator between good risk and bad risk customers but further evaluation will give accurate answers and differentiate better.</a:t>
            </a:r>
            <a:endParaRPr lang="en-ZA" sz="1400" dirty="0"/>
          </a:p>
        </p:txBody>
      </p:sp>
      <p:graphicFrame>
        <p:nvGraphicFramePr>
          <p:cNvPr id="7" name="Table 6">
            <a:extLst>
              <a:ext uri="{FF2B5EF4-FFF2-40B4-BE49-F238E27FC236}">
                <a16:creationId xmlns:a16="http://schemas.microsoft.com/office/drawing/2014/main" id="{196FC049-AF2D-ECEA-AAC7-C4E2E1FA8AC0}"/>
              </a:ext>
            </a:extLst>
          </p:cNvPr>
          <p:cNvGraphicFramePr>
            <a:graphicFrameLocks noGrp="1"/>
          </p:cNvGraphicFramePr>
          <p:nvPr>
            <p:extLst>
              <p:ext uri="{D42A27DB-BD31-4B8C-83A1-F6EECF244321}">
                <p14:modId xmlns:p14="http://schemas.microsoft.com/office/powerpoint/2010/main" val="1893620537"/>
              </p:ext>
            </p:extLst>
          </p:nvPr>
        </p:nvGraphicFramePr>
        <p:xfrm>
          <a:off x="264234" y="3442540"/>
          <a:ext cx="5831765" cy="1317432"/>
        </p:xfrm>
        <a:graphic>
          <a:graphicData uri="http://schemas.openxmlformats.org/drawingml/2006/table">
            <a:tbl>
              <a:tblPr>
                <a:tableStyleId>{35758FB7-9AC5-4552-8A53-C91805E547FA}</a:tableStyleId>
              </a:tblPr>
              <a:tblGrid>
                <a:gridCol w="1305407">
                  <a:extLst>
                    <a:ext uri="{9D8B030D-6E8A-4147-A177-3AD203B41FA5}">
                      <a16:colId xmlns:a16="http://schemas.microsoft.com/office/drawing/2014/main" val="3670514690"/>
                    </a:ext>
                  </a:extLst>
                </a:gridCol>
                <a:gridCol w="1802030">
                  <a:extLst>
                    <a:ext uri="{9D8B030D-6E8A-4147-A177-3AD203B41FA5}">
                      <a16:colId xmlns:a16="http://schemas.microsoft.com/office/drawing/2014/main" val="490716017"/>
                    </a:ext>
                  </a:extLst>
                </a:gridCol>
                <a:gridCol w="1589192">
                  <a:extLst>
                    <a:ext uri="{9D8B030D-6E8A-4147-A177-3AD203B41FA5}">
                      <a16:colId xmlns:a16="http://schemas.microsoft.com/office/drawing/2014/main" val="3575323929"/>
                    </a:ext>
                  </a:extLst>
                </a:gridCol>
                <a:gridCol w="1135136">
                  <a:extLst>
                    <a:ext uri="{9D8B030D-6E8A-4147-A177-3AD203B41FA5}">
                      <a16:colId xmlns:a16="http://schemas.microsoft.com/office/drawing/2014/main" val="541056924"/>
                    </a:ext>
                  </a:extLst>
                </a:gridCol>
              </a:tblGrid>
              <a:tr h="219572">
                <a:tc>
                  <a:txBody>
                    <a:bodyPr/>
                    <a:lstStyle/>
                    <a:p>
                      <a:pPr algn="l" fontAlgn="b"/>
                      <a:r>
                        <a:rPr lang="en-ZA" sz="1100" u="none" strike="noStrike">
                          <a:effectLst/>
                        </a:rPr>
                        <a:t>Row Labels</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a:effectLst/>
                        </a:rPr>
                        <a:t>Sum of default_ind</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a:effectLst/>
                        </a:rPr>
                        <a:t>Count of cust_no</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100" u="none" strike="noStrike">
                          <a:effectLst/>
                        </a:rPr>
                        <a:t>default rate</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02052014"/>
                  </a:ext>
                </a:extLst>
              </a:tr>
              <a:tr h="219572">
                <a:tc>
                  <a:txBody>
                    <a:bodyPr/>
                    <a:lstStyle/>
                    <a:p>
                      <a:pPr algn="l" fontAlgn="b"/>
                      <a:r>
                        <a:rPr lang="en-ZA" sz="1100" u="none" strike="noStrike">
                          <a:effectLst/>
                        </a:rPr>
                        <a:t>1st quartile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1606</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2495</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64,4%</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7788246"/>
                  </a:ext>
                </a:extLst>
              </a:tr>
              <a:tr h="219572">
                <a:tc>
                  <a:txBody>
                    <a:bodyPr/>
                    <a:lstStyle/>
                    <a:p>
                      <a:pPr algn="l" fontAlgn="b"/>
                      <a:r>
                        <a:rPr lang="en-ZA" sz="1100" u="none" strike="noStrike">
                          <a:effectLst/>
                        </a:rPr>
                        <a:t>2nd quartile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1364</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2497</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54,6%</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9207021"/>
                  </a:ext>
                </a:extLst>
              </a:tr>
              <a:tr h="219572">
                <a:tc>
                  <a:txBody>
                    <a:bodyPr/>
                    <a:lstStyle/>
                    <a:p>
                      <a:pPr algn="l" fontAlgn="b"/>
                      <a:r>
                        <a:rPr lang="en-ZA" sz="1100" u="none" strike="noStrike">
                          <a:effectLst/>
                        </a:rPr>
                        <a:t>3rd quartile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1080</a:t>
                      </a:r>
                      <a:endParaRPr lang="en-ZA"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2495</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43,3%</a:t>
                      </a:r>
                      <a:endParaRPr lang="en-ZA"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54961149"/>
                  </a:ext>
                </a:extLst>
              </a:tr>
              <a:tr h="219572">
                <a:tc>
                  <a:txBody>
                    <a:bodyPr/>
                    <a:lstStyle/>
                    <a:p>
                      <a:pPr algn="l" fontAlgn="b"/>
                      <a:r>
                        <a:rPr lang="en-ZA" sz="1100" u="none" strike="noStrike">
                          <a:effectLst/>
                        </a:rPr>
                        <a:t>4th quartile</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837</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2498</a:t>
                      </a:r>
                      <a:endParaRPr lang="en-ZA"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33,5%</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08127534"/>
                  </a:ext>
                </a:extLst>
              </a:tr>
              <a:tr h="219572">
                <a:tc>
                  <a:txBody>
                    <a:bodyPr/>
                    <a:lstStyle/>
                    <a:p>
                      <a:pPr algn="l" fontAlgn="b"/>
                      <a:r>
                        <a:rPr lang="en-ZA" sz="1100" u="none" strike="noStrike">
                          <a:effectLst/>
                        </a:rPr>
                        <a:t>Grand Total</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4887</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a:effectLst/>
                        </a:rPr>
                        <a:t>9985</a:t>
                      </a:r>
                      <a:endParaRPr lang="en-ZA"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100" u="none" strike="noStrike" dirty="0">
                          <a:effectLst/>
                        </a:rPr>
                        <a:t>48,9%</a:t>
                      </a:r>
                      <a:endParaRPr lang="en-ZA"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08710447"/>
                  </a:ext>
                </a:extLst>
              </a:tr>
            </a:tbl>
          </a:graphicData>
        </a:graphic>
      </p:graphicFrame>
      <p:sp>
        <p:nvSpPr>
          <p:cNvPr id="9" name="TextBox 8">
            <a:extLst>
              <a:ext uri="{FF2B5EF4-FFF2-40B4-BE49-F238E27FC236}">
                <a16:creationId xmlns:a16="http://schemas.microsoft.com/office/drawing/2014/main" id="{51105311-5C20-A319-7AB6-3E2172DBE3C6}"/>
              </a:ext>
            </a:extLst>
          </p:cNvPr>
          <p:cNvSpPr txBox="1"/>
          <p:nvPr/>
        </p:nvSpPr>
        <p:spPr>
          <a:xfrm>
            <a:off x="264233" y="5009195"/>
            <a:ext cx="6093724" cy="1600438"/>
          </a:xfrm>
          <a:prstGeom prst="rect">
            <a:avLst/>
          </a:prstGeom>
          <a:noFill/>
        </p:spPr>
        <p:txBody>
          <a:bodyPr wrap="square">
            <a:spAutoFit/>
          </a:bodyPr>
          <a:lstStyle/>
          <a:p>
            <a:pPr algn="just"/>
            <a:r>
              <a:rPr lang="en-US" sz="1400" dirty="0"/>
              <a:t>The default rate decreases as the feature 5 value gets bigger and bigger, meaning the higher the feature 5 value is for a customer, than the less likely they are to default, as the default rate decreases as the quartile goes higher. Customers in the 4th quartile have a low default rate and customers in the 1st quartile have a high default rate. This is a good differentiator between good and bad risk customers.</a:t>
            </a:r>
            <a:endParaRPr lang="en-ZA" sz="1400" dirty="0"/>
          </a:p>
        </p:txBody>
      </p:sp>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0340F508-3123-DE5A-3163-2553841C63B4}"/>
                  </a:ext>
                </a:extLst>
              </p:cNvPr>
              <p:cNvGraphicFramePr/>
              <p:nvPr>
                <p:extLst>
                  <p:ext uri="{D42A27DB-BD31-4B8C-83A1-F6EECF244321}">
                    <p14:modId xmlns:p14="http://schemas.microsoft.com/office/powerpoint/2010/main" val="928888413"/>
                  </p:ext>
                </p:extLst>
              </p:nvPr>
            </p:nvGraphicFramePr>
            <p:xfrm>
              <a:off x="6550927" y="199441"/>
              <a:ext cx="4718077" cy="3963127"/>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0" name="Chart 9">
                <a:extLst>
                  <a:ext uri="{FF2B5EF4-FFF2-40B4-BE49-F238E27FC236}">
                    <a16:creationId xmlns:a16="http://schemas.microsoft.com/office/drawing/2014/main" id="{0340F508-3123-DE5A-3163-2553841C63B4}"/>
                  </a:ext>
                </a:extLst>
              </p:cNvPr>
              <p:cNvPicPr>
                <a:picLocks noGrp="1" noRot="1" noChangeAspect="1" noMove="1" noResize="1" noEditPoints="1" noAdjustHandles="1" noChangeArrowheads="1" noChangeShapeType="1"/>
              </p:cNvPicPr>
              <p:nvPr/>
            </p:nvPicPr>
            <p:blipFill>
              <a:blip r:embed="rId3"/>
              <a:stretch>
                <a:fillRect/>
              </a:stretch>
            </p:blipFill>
            <p:spPr>
              <a:xfrm>
                <a:off x="6550927" y="199441"/>
                <a:ext cx="4718077" cy="3963127"/>
              </a:xfrm>
              <a:prstGeom prst="rect">
                <a:avLst/>
              </a:prstGeom>
            </p:spPr>
          </p:pic>
        </mc:Fallback>
      </mc:AlternateContent>
    </p:spTree>
    <p:extLst>
      <p:ext uri="{BB962C8B-B14F-4D97-AF65-F5344CB8AC3E}">
        <p14:creationId xmlns:p14="http://schemas.microsoft.com/office/powerpoint/2010/main" val="11093263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418</TotalTime>
  <Words>612</Words>
  <Application>Microsoft Office PowerPoint</Application>
  <PresentationFormat>Widescreen</PresentationFormat>
  <Paragraphs>118</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Ion Boardroom</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Timica Isaacs</dc:creator>
  <cp:lastModifiedBy>Innocentia Ledimo</cp:lastModifiedBy>
  <cp:revision>2</cp:revision>
  <dcterms:created xsi:type="dcterms:W3CDTF">2024-02-05T12:26:50Z</dcterms:created>
  <dcterms:modified xsi:type="dcterms:W3CDTF">2024-02-05T20:59:13Z</dcterms:modified>
</cp:coreProperties>
</file>